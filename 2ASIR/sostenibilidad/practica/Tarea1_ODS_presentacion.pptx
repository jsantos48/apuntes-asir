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017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S_IMG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pic" idx="100" hasCustomPrompt="1"/>
          </p:nvPr>
        </p:nvSpPr>
        <p:spPr>
          <a:xfrm>
            <a:off x="4572000" y="411480"/>
            <a:ext cx="7223760" cy="2468880"/>
          </a:xfrm>
          <a:prstGeom prst="rect">
            <a:avLst/>
          </a:prstGeom>
          <a:noFill/>
          <a:ln w="19050">
            <a:solidFill>
              <a:srgbClr val="8A93A6"/>
            </a:solidFill>
            <a:prstDash val="dash"/>
          </a:ln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Haz clic en el icono para insertar tu imagen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5.png"/><Relationship Id="rId3" Type="http://schemas.openxmlformats.org/officeDocument/2006/relationships/hyperlink" Target="https://sdgs.un.org/es/goals" TargetMode="External"/><Relationship Id="rId7" Type="http://schemas.openxmlformats.org/officeDocument/2006/relationships/image" Target="../media/image2.png"/><Relationship Id="rId12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5.xml"/><Relationship Id="rId11" Type="http://schemas.openxmlformats.org/officeDocument/2006/relationships/image" Target="../media/image4.png"/><Relationship Id="rId5" Type="http://schemas.openxmlformats.org/officeDocument/2006/relationships/image" Target="../media/image1.png"/><Relationship Id="rId10" Type="http://schemas.openxmlformats.org/officeDocument/2006/relationships/slide" Target="slide7.xml"/><Relationship Id="rId4" Type="http://schemas.openxmlformats.org/officeDocument/2006/relationships/slide" Target="slide4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fif"/><Relationship Id="rId4" Type="http://schemas.openxmlformats.org/officeDocument/2006/relationships/hyperlink" Target="https://sdgs.un.org/es/goals/goal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fif"/><Relationship Id="rId4" Type="http://schemas.openxmlformats.org/officeDocument/2006/relationships/hyperlink" Target="https://sdgs.un.org/es/goals/goal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fif"/><Relationship Id="rId4" Type="http://schemas.openxmlformats.org/officeDocument/2006/relationships/hyperlink" Target="https://sdgs.un.org/es/goals/goal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fif"/><Relationship Id="rId4" Type="http://schemas.openxmlformats.org/officeDocument/2006/relationships/hyperlink" Target="https://sdgs.un.org/es/goals/goal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dgs.un.org/es/goals/goal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es/goal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stats.un.org/sdgs/report/2022/" TargetMode="External"/><Relationship Id="rId4" Type="http://schemas.openxmlformats.org/officeDocument/2006/relationships/hyperlink" Target="https://www.un.org/sustainabledevelopment/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ODS 1"/>
          <p:cNvSpPr/>
          <p:nvPr/>
        </p:nvSpPr>
        <p:spPr>
          <a:xfrm>
            <a:off x="7616952" y="0"/>
            <a:ext cx="914400" cy="6858000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16952" y="5852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Franja ODS 2"/>
          <p:cNvSpPr/>
          <p:nvPr/>
        </p:nvSpPr>
        <p:spPr>
          <a:xfrm>
            <a:off x="8531352" y="0"/>
            <a:ext cx="914400" cy="6858000"/>
          </a:xfrm>
          <a:prstGeom prst="rect">
            <a:avLst/>
          </a:prstGeom>
          <a:solidFill>
            <a:srgbClr val="DDA63A"/>
          </a:solidFill>
          <a:ln w="12700">
            <a:solidFill>
              <a:srgbClr val="DDA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31352" y="5852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Franja ODS 3"/>
          <p:cNvSpPr/>
          <p:nvPr/>
        </p:nvSpPr>
        <p:spPr>
          <a:xfrm>
            <a:off x="9445752" y="0"/>
            <a:ext cx="914400" cy="6858000"/>
          </a:xfrm>
          <a:prstGeom prst="rect">
            <a:avLst/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45752" y="5852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Franja ODS 7"/>
          <p:cNvSpPr/>
          <p:nvPr/>
        </p:nvSpPr>
        <p:spPr>
          <a:xfrm>
            <a:off x="10360152" y="0"/>
            <a:ext cx="914400" cy="6858000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60152" y="5852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2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Franja ODS 8"/>
          <p:cNvSpPr/>
          <p:nvPr/>
        </p:nvSpPr>
        <p:spPr>
          <a:xfrm>
            <a:off x="11274552" y="0"/>
            <a:ext cx="914400" cy="6858000"/>
          </a:xfrm>
          <a:prstGeom prst="rect">
            <a:avLst/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74552" y="5852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  ·  AGENDA 2030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64592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ODS frente al COVID-19 y la guerra de Ucrania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97280" cy="64008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709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A. Santos García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cinco objetivos elegidos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17 objetivos que estableció la ONU en 2015, contenidos en la </a:t>
            </a:r>
            <a:r>
              <a:rPr lang="en-US" sz="1600" u="sng" dirty="0">
                <a:solidFill>
                  <a:srgbClr val="0A7B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Los 17 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Agenda 2030</a:t>
            </a: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 escogido cinco. Pulsa en cada tarjeta para ir a su ficha.</a:t>
            </a:r>
            <a:endParaRPr lang="en-US" sz="1600" dirty="0"/>
          </a:p>
        </p:txBody>
      </p:sp>
      <p:sp>
        <p:nvSpPr>
          <p:cNvPr id="4" name="Tarjeta ODS 1">
            <a:hlinkClick r:id="rId4" action="ppaction://hlinksldjump" tooltip="Ir al ODS 1"/>
          </p:cNvPr>
          <p:cNvSpPr/>
          <p:nvPr/>
        </p:nvSpPr>
        <p:spPr>
          <a:xfrm>
            <a:off x="548640" y="20116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pic>
        <p:nvPicPr>
          <p:cNvPr id="5" name="Image 0" descr="Icono ODS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40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690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pobreza</a:t>
            </a:r>
            <a:endParaRPr lang="en-US" sz="1700" dirty="0"/>
          </a:p>
        </p:txBody>
      </p:sp>
      <p:sp>
        <p:nvSpPr>
          <p:cNvPr id="8" name="Text 5">
            <a:hlinkClick r:id="rId4" action="ppaction://hlinksldjump"/>
          </p:cNvPr>
          <p:cNvSpPr txBox="1"/>
          <p:nvPr/>
        </p:nvSpPr>
        <p:spPr>
          <a:xfrm>
            <a:off x="73152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ficha</a:t>
            </a:r>
            <a:endParaRPr lang="en-US" sz="1200" dirty="0"/>
          </a:p>
        </p:txBody>
      </p:sp>
      <p:sp>
        <p:nvSpPr>
          <p:cNvPr id="9" name="Tarjeta ODS 2">
            <a:hlinkClick r:id="rId6" action="ppaction://hlinksldjump" tooltip="Ir al ODS 2"/>
          </p:cNvPr>
          <p:cNvSpPr/>
          <p:nvPr/>
        </p:nvSpPr>
        <p:spPr>
          <a:xfrm>
            <a:off x="2807208" y="20116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DDA63A"/>
          </a:solidFill>
          <a:ln w="12700">
            <a:solidFill>
              <a:srgbClr val="DDA63A"/>
            </a:solidFill>
            <a:prstDash val="solid"/>
          </a:ln>
        </p:spPr>
      </p:sp>
      <p:pic>
        <p:nvPicPr>
          <p:cNvPr id="10" name="Image 1" descr="Icono ODS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5808" y="22402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90088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8"/>
          <p:cNvSpPr txBox="1"/>
          <p:nvPr/>
        </p:nvSpPr>
        <p:spPr>
          <a:xfrm>
            <a:off x="2990088" y="40690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Hambre cero</a:t>
            </a:r>
            <a:endParaRPr lang="en-US" sz="1700" dirty="0"/>
          </a:p>
        </p:txBody>
      </p:sp>
      <p:sp>
        <p:nvSpPr>
          <p:cNvPr id="13" name="Text 9">
            <a:hlinkClick r:id="rId6" action="ppaction://hlinksldjump"/>
          </p:cNvPr>
          <p:cNvSpPr txBox="1"/>
          <p:nvPr/>
        </p:nvSpPr>
        <p:spPr>
          <a:xfrm>
            <a:off x="2990088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ficha</a:t>
            </a:r>
            <a:endParaRPr lang="en-US" sz="1200" dirty="0"/>
          </a:p>
        </p:txBody>
      </p:sp>
      <p:sp>
        <p:nvSpPr>
          <p:cNvPr id="14" name="Tarjeta ODS 3">
            <a:hlinkClick r:id="rId8" action="ppaction://hlinksldjump" tooltip="Ir al ODS 3"/>
          </p:cNvPr>
          <p:cNvSpPr/>
          <p:nvPr/>
        </p:nvSpPr>
        <p:spPr>
          <a:xfrm>
            <a:off x="5065776" y="20116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pic>
        <p:nvPicPr>
          <p:cNvPr id="15" name="Image 2" descr="Icono ODS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376" y="22402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48656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2"/>
          <p:cNvSpPr txBox="1"/>
          <p:nvPr/>
        </p:nvSpPr>
        <p:spPr>
          <a:xfrm>
            <a:off x="5248656" y="40690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bienestar</a:t>
            </a:r>
            <a:endParaRPr lang="en-US" sz="1700" dirty="0"/>
          </a:p>
        </p:txBody>
      </p:sp>
      <p:sp>
        <p:nvSpPr>
          <p:cNvPr id="18" name="Text 13">
            <a:hlinkClick r:id="rId8" action="ppaction://hlinksldjump"/>
          </p:cNvPr>
          <p:cNvSpPr txBox="1"/>
          <p:nvPr/>
        </p:nvSpPr>
        <p:spPr>
          <a:xfrm>
            <a:off x="5248656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ficha</a:t>
            </a:r>
            <a:endParaRPr lang="en-US" sz="1200" dirty="0"/>
          </a:p>
        </p:txBody>
      </p:sp>
      <p:sp>
        <p:nvSpPr>
          <p:cNvPr id="19" name="Tarjeta ODS 7">
            <a:hlinkClick r:id="rId10" action="ppaction://hlinksldjump" tooltip="Ir al ODS 7"/>
          </p:cNvPr>
          <p:cNvSpPr/>
          <p:nvPr/>
        </p:nvSpPr>
        <p:spPr>
          <a:xfrm>
            <a:off x="7324344" y="20116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pic>
        <p:nvPicPr>
          <p:cNvPr id="20" name="Image 3" descr="Icono ODS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944" y="224028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07224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A2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000" dirty="0"/>
          </a:p>
        </p:txBody>
      </p:sp>
      <p:sp>
        <p:nvSpPr>
          <p:cNvPr id="22" name="Text 16"/>
          <p:cNvSpPr txBox="1"/>
          <p:nvPr/>
        </p:nvSpPr>
        <p:spPr>
          <a:xfrm>
            <a:off x="7507224" y="40690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asequible y no contaminante</a:t>
            </a:r>
            <a:endParaRPr lang="en-US" sz="1700" dirty="0"/>
          </a:p>
        </p:txBody>
      </p:sp>
      <p:sp>
        <p:nvSpPr>
          <p:cNvPr id="23" name="Text 17">
            <a:hlinkClick r:id="rId10" action="ppaction://hlinksldjump"/>
          </p:cNvPr>
          <p:cNvSpPr txBox="1"/>
          <p:nvPr/>
        </p:nvSpPr>
        <p:spPr>
          <a:xfrm>
            <a:off x="7507224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A2F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ficha</a:t>
            </a:r>
            <a:endParaRPr lang="en-US" sz="1200" dirty="0"/>
          </a:p>
        </p:txBody>
      </p:sp>
      <p:sp>
        <p:nvSpPr>
          <p:cNvPr id="24" name="Tarjeta ODS 8">
            <a:hlinkClick r:id="rId12" action="ppaction://hlinksldjump" tooltip="Ir al ODS 8"/>
          </p:cNvPr>
          <p:cNvSpPr/>
          <p:nvPr/>
        </p:nvSpPr>
        <p:spPr>
          <a:xfrm>
            <a:off x="9582912" y="2011680"/>
            <a:ext cx="2103120" cy="4114800"/>
          </a:xfrm>
          <a:prstGeom prst="roundRect">
            <a:avLst>
              <a:gd name="adj" fmla="val 5217"/>
            </a:avLst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pic>
        <p:nvPicPr>
          <p:cNvPr id="25" name="Image 4" descr="Icono ODS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1512" y="2240280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65792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000" dirty="0"/>
          </a:p>
        </p:txBody>
      </p:sp>
      <p:sp>
        <p:nvSpPr>
          <p:cNvPr id="27" name="Text 20"/>
          <p:cNvSpPr txBox="1"/>
          <p:nvPr/>
        </p:nvSpPr>
        <p:spPr>
          <a:xfrm>
            <a:off x="9765792" y="40690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decente y crecimiento económico</a:t>
            </a:r>
            <a:endParaRPr lang="en-US" sz="1700" dirty="0"/>
          </a:p>
        </p:txBody>
      </p:sp>
      <p:sp>
        <p:nvSpPr>
          <p:cNvPr id="28" name="Text 21">
            <a:hlinkClick r:id="rId12" action="ppaction://hlinksldjump"/>
          </p:cNvPr>
          <p:cNvSpPr txBox="1"/>
          <p:nvPr/>
        </p:nvSpPr>
        <p:spPr>
          <a:xfrm>
            <a:off x="9765792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ficha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305" cy="6858000"/>
          </a:xfrm>
          <a:prstGeom prst="rect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3" name="Image 0" descr="Icono COVID-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918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pandemia provocó una crisis sanitaria, económica y social que afectó directamente al cumplimiento de los ODS.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C8402B"/>
          </a:solidFill>
          <a:ln w="12700">
            <a:solidFill>
              <a:srgbClr val="C8402B"/>
            </a:solidFill>
            <a:prstDash val="solid"/>
          </a:ln>
        </p:spPr>
      </p:sp>
      <p:pic>
        <p:nvPicPr>
          <p:cNvPr id="7" name="Image 1" descr="Icono Guerra de Ucran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825" y="9144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27825" y="2194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de Ucrania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6827825" y="32918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invasión rusa agravó las consecuencias económicas y sociales de la pandemia. El conflicto afectó al comercio internacional, al suministro de energía y alimentos y a la estabilidad económica mundial.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ODS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3" name="Fondo imagen ODS 1"/>
          <p:cNvSpPr/>
          <p:nvPr/>
        </p:nvSpPr>
        <p:spPr>
          <a:xfrm>
            <a:off x="4572000" y="411480"/>
            <a:ext cx="7223760" cy="2468880"/>
          </a:xfrm>
          <a:prstGeom prst="rect">
            <a:avLst/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21488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imagen del ODS 1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icono del centro para insertarla</a:t>
            </a:r>
            <a:endParaRPr lang="en-US" sz="2000" dirty="0"/>
          </a:p>
        </p:txBody>
      </p:sp>
      <p:pic>
        <p:nvPicPr>
          <p:cNvPr id="5" name="Image 0" descr="Icono ODS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 de la pobreza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objetivo es erradicar la pobreza en todas sus formas y garantizar que todas las personas tengan acceso a recursos básicos.</a:t>
            </a:r>
            <a:endParaRPr lang="en-US" sz="1400" dirty="0"/>
          </a:p>
        </p:txBody>
      </p:sp>
      <p:sp>
        <p:nvSpPr>
          <p:cNvPr id="10" name="Text 7">
            <a:hlinkClick r:id="rId4" tooltip="ODS 1"/>
          </p:cNvPr>
          <p:cNvSpPr txBox="1"/>
          <p:nvPr/>
        </p:nvSpPr>
        <p:spPr>
          <a:xfrm>
            <a:off x="457200" y="6217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DS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Más información en la ONU</a:t>
            </a:r>
            <a:endParaRPr lang="en-US" sz="1200" dirty="0"/>
          </a:p>
        </p:txBody>
      </p:sp>
      <p:sp>
        <p:nvSpPr>
          <p:cNvPr id="11" name="Tarjeta COVID-19"/>
          <p:cNvSpPr/>
          <p:nvPr/>
        </p:nvSpPr>
        <p:spPr>
          <a:xfrm>
            <a:off x="457200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108960"/>
            <a:ext cx="3520440" cy="82296"/>
          </a:xfrm>
          <a:prstGeom prst="rect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restricciones de movilidad, el cierre de empresas y la pérdida de empleos provocaron que millones de personas perdieran sus ingresos. Muchas familias tuvieron dificultades para pagar el alquiler, comprar alimentos y cubrir sus necesidades básicas. La pandemia hizo que la pobreza extrema aumentara por primera vez en décadas, revirtiendo aproximadamente tres años de avances en su reducción.</a:t>
            </a:r>
            <a:endParaRPr lang="en-US" sz="1250" dirty="0"/>
          </a:p>
        </p:txBody>
      </p:sp>
      <p:sp>
        <p:nvSpPr>
          <p:cNvPr id="15" name="Tarjeta Guerra de Ucrania"/>
          <p:cNvSpPr/>
          <p:nvPr/>
        </p:nvSpPr>
        <p:spPr>
          <a:xfrm>
            <a:off x="827532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3108960"/>
            <a:ext cx="3520440" cy="82296"/>
          </a:xfrm>
          <a:prstGeom prst="rect">
            <a:avLst/>
          </a:prstGeom>
          <a:solidFill>
            <a:srgbClr val="C8402B"/>
          </a:solidFill>
          <a:ln w="12700">
            <a:solidFill>
              <a:srgbClr val="C840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de Ucrania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guerra provocó un aumento de los precios de la energía, los alimentos y otros productos básicos. Como consecuencia, muchas familias perdieron poder adquisitivo y tuvieron mayores dificultades para cubrir sus necesidades. Esta situación afectó especialmente a los hogares con ingresos bajos y a los países que ya tenían problemas económicos. La inflación posterior al inicio de la guerra agravó los efectos de la pandemia sobre la pobreza.</a:t>
            </a:r>
            <a:endParaRPr lang="en-US" sz="1250" dirty="0"/>
          </a:p>
        </p:txBody>
      </p:sp>
      <p:sp>
        <p:nvSpPr>
          <p:cNvPr id="19" name="Text 0"/>
          <p:cNvSpPr>
            <a:spLocks noGrp="1"/>
          </p:cNvSpPr>
          <p:nvPr>
            <p:ph idx="100" hasCustomPrompt="1"/>
          </p:nvPr>
        </p:nvSpPr>
        <p:spPr>
          <a:xfrm>
            <a:off x="4572000" y="411480"/>
            <a:ext cx="7223760" cy="2468880"/>
          </a:xfrm>
          <a:prstGeom prst="rect">
            <a:avLst/>
          </a:prstGeom>
          <a:noFill/>
          <a:ln w="19050">
            <a:solidFill>
              <a:srgbClr val="8A93A6"/>
            </a:solidFill>
            <a:prstDash val="dash"/>
          </a:ln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3" name="Marcador de posición de imagen 22">
            <a:extLst>
              <a:ext uri="{FF2B5EF4-FFF2-40B4-BE49-F238E27FC236}">
                <a16:creationId xmlns:a16="http://schemas.microsoft.com/office/drawing/2014/main" id="{AD425C44-9C16-870B-33E1-6DBBB2FB2610}"/>
              </a:ext>
            </a:extLst>
          </p:cNvPr>
          <p:cNvPicPr>
            <a:picLocks noGrp="1" noChangeAspect="1"/>
          </p:cNvPicPr>
          <p:nvPr>
            <p:ph type="pic" idx="100"/>
          </p:nvPr>
        </p:nvPicPr>
        <p:blipFill>
          <a:blip r:embed="rId5"/>
          <a:srcRect t="17090" b="634"/>
          <a:stretch>
            <a:fillRect/>
          </a:stretch>
        </p:blipFill>
        <p:spPr>
          <a:xfrm>
            <a:off x="4572000" y="77724"/>
            <a:ext cx="7223760" cy="29718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ODS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DA63A"/>
          </a:solidFill>
          <a:ln w="12700">
            <a:solidFill>
              <a:srgbClr val="DDA63A"/>
            </a:solidFill>
            <a:prstDash val="solid"/>
          </a:ln>
        </p:spPr>
      </p:sp>
      <p:sp>
        <p:nvSpPr>
          <p:cNvPr id="3" name="Fondo imagen ODS 2"/>
          <p:cNvSpPr/>
          <p:nvPr/>
        </p:nvSpPr>
        <p:spPr>
          <a:xfrm>
            <a:off x="4572000" y="411480"/>
            <a:ext cx="7223760" cy="2468880"/>
          </a:xfrm>
          <a:prstGeom prst="rect">
            <a:avLst/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21488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imagen del ODS 2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icono del centro para insertarla</a:t>
            </a:r>
            <a:endParaRPr lang="en-US" sz="2000" dirty="0"/>
          </a:p>
        </p:txBody>
      </p:sp>
      <p:pic>
        <p:nvPicPr>
          <p:cNvPr id="5" name="Image 0" descr="Icono ODS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Hambre cero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acabar con el hambre, garantizar la seguridad alimentaria, mejorar la nutrición y promover una agricultura sostenible que permita producir alimentos suficientes para toda la población.</a:t>
            </a:r>
            <a:endParaRPr lang="en-US" sz="1400" dirty="0"/>
          </a:p>
        </p:txBody>
      </p:sp>
      <p:sp>
        <p:nvSpPr>
          <p:cNvPr id="10" name="Text 7">
            <a:hlinkClick r:id="rId4" tooltip="ODS 2"/>
          </p:cNvPr>
          <p:cNvSpPr txBox="1"/>
          <p:nvPr/>
        </p:nvSpPr>
        <p:spPr>
          <a:xfrm>
            <a:off x="457200" y="6217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DS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Más información en la ONU</a:t>
            </a:r>
            <a:endParaRPr lang="en-US" sz="1200" dirty="0"/>
          </a:p>
        </p:txBody>
      </p:sp>
      <p:sp>
        <p:nvSpPr>
          <p:cNvPr id="11" name="Tarjeta COVID-19"/>
          <p:cNvSpPr/>
          <p:nvPr/>
        </p:nvSpPr>
        <p:spPr>
          <a:xfrm>
            <a:off x="457200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108960"/>
            <a:ext cx="3520440" cy="82296"/>
          </a:xfrm>
          <a:prstGeom prst="rect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pandemia interrumpió las cadenas de suministro, dificultó el transporte y la distribución de alimentos y redujo los ingresos de muchas familias. Además, el cierre de comedores escolares dejó a numerosos niños sin una fuente habitual de alimentación.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54880" y="54406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DF3D8"/>
          </a:solidFill>
          <a:ln w="12700">
            <a:solidFill>
              <a:srgbClr val="FDF3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546811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Dato: </a:t>
            </a:r>
            <a:r>
              <a:rPr lang="en-US" sz="1150" dirty="0">
                <a:solidFill>
                  <a:srgbClr val="5A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2020, entre 720 y 811 millones de personas padecieron hambre en el mundo, según las estimaciones de la ONU.</a:t>
            </a:r>
            <a:endParaRPr lang="en-US" sz="1150" dirty="0"/>
          </a:p>
        </p:txBody>
      </p:sp>
      <p:sp>
        <p:nvSpPr>
          <p:cNvPr id="17" name="Tarjeta Guerra de Ucrania"/>
          <p:cNvSpPr/>
          <p:nvPr/>
        </p:nvSpPr>
        <p:spPr>
          <a:xfrm>
            <a:off x="827532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3108960"/>
            <a:ext cx="3520440" cy="82296"/>
          </a:xfrm>
          <a:prstGeom prst="rect">
            <a:avLst/>
          </a:prstGeom>
          <a:solidFill>
            <a:srgbClr val="C8402B"/>
          </a:solidFill>
          <a:ln w="12700">
            <a:solidFill>
              <a:srgbClr val="C840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de Ucrania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Ucrania y Rusia son importantes productores y exportadores de cereales, aceites vegetales y otros productos agrícolas. La guerra dificultó las exportaciones, afectó al transporte marítimo y elevó los precios de los fertilizantes y los alimentos. Esto encareció la producción agrícola y la compra de comida, perjudicando especialmente a los países que dependen de las importaciones para alimentar a su población.</a:t>
            </a:r>
            <a:endParaRPr lang="en-US" sz="1250" dirty="0"/>
          </a:p>
        </p:txBody>
      </p:sp>
      <p:sp>
        <p:nvSpPr>
          <p:cNvPr id="21" name="Text 0"/>
          <p:cNvSpPr>
            <a:spLocks noGrp="1"/>
          </p:cNvSpPr>
          <p:nvPr>
            <p:ph idx="100" hasCustomPrompt="1"/>
          </p:nvPr>
        </p:nvSpPr>
        <p:spPr>
          <a:xfrm>
            <a:off x="4572000" y="411480"/>
            <a:ext cx="7223760" cy="2468880"/>
          </a:xfrm>
          <a:prstGeom prst="rect">
            <a:avLst/>
          </a:prstGeom>
          <a:noFill/>
          <a:ln w="19050">
            <a:solidFill>
              <a:srgbClr val="8A93A6"/>
            </a:solidFill>
            <a:prstDash val="dash"/>
          </a:ln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3" name="Marcador de posición de imagen 22">
            <a:extLst>
              <a:ext uri="{FF2B5EF4-FFF2-40B4-BE49-F238E27FC236}">
                <a16:creationId xmlns:a16="http://schemas.microsoft.com/office/drawing/2014/main" id="{D65A4A5F-FB81-C816-7651-E04ECFC457C2}"/>
              </a:ext>
            </a:extLst>
          </p:cNvPr>
          <p:cNvPicPr>
            <a:picLocks noGrp="1" noChangeAspect="1"/>
          </p:cNvPicPr>
          <p:nvPr>
            <p:ph type="pic" idx="100"/>
          </p:nvPr>
        </p:nvPicPr>
        <p:blipFill>
          <a:blip r:embed="rId5"/>
          <a:srcRect t="6502" b="40746"/>
          <a:stretch>
            <a:fillRect/>
          </a:stretch>
        </p:blipFill>
        <p:spPr>
          <a:xfrm>
            <a:off x="4572000" y="109727"/>
            <a:ext cx="7223760" cy="286702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ODS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3" name="Fondo imagen ODS 3"/>
          <p:cNvSpPr/>
          <p:nvPr/>
        </p:nvSpPr>
        <p:spPr>
          <a:xfrm>
            <a:off x="4572000" y="411480"/>
            <a:ext cx="7223760" cy="2468880"/>
          </a:xfrm>
          <a:prstGeom prst="rect">
            <a:avLst/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21488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imagen del ODS 3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icono del centro para insertarla</a:t>
            </a:r>
            <a:endParaRPr lang="en-US" sz="2000" dirty="0"/>
          </a:p>
        </p:txBody>
      </p:sp>
      <p:pic>
        <p:nvPicPr>
          <p:cNvPr id="5" name="Image 0" descr="Icono ODS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Salud y bienestar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Pretende garantizar una vida sana y promover el bienestar de todas las personas, mejorando el acceso a los servicios sanitarios, la prevención de enfermedades y la atención médica.</a:t>
            </a:r>
            <a:endParaRPr lang="en-US" sz="1400" dirty="0"/>
          </a:p>
        </p:txBody>
      </p:sp>
      <p:sp>
        <p:nvSpPr>
          <p:cNvPr id="10" name="Text 7">
            <a:hlinkClick r:id="rId4" tooltip="ODS 3"/>
          </p:cNvPr>
          <p:cNvSpPr txBox="1"/>
          <p:nvPr/>
        </p:nvSpPr>
        <p:spPr>
          <a:xfrm>
            <a:off x="457200" y="6217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DS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Más información en la ONU</a:t>
            </a:r>
            <a:endParaRPr lang="en-US" sz="1200" dirty="0"/>
          </a:p>
        </p:txBody>
      </p:sp>
      <p:sp>
        <p:nvSpPr>
          <p:cNvPr id="11" name="Tarjeta COVID-19"/>
          <p:cNvSpPr/>
          <p:nvPr/>
        </p:nvSpPr>
        <p:spPr>
          <a:xfrm>
            <a:off x="457200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108960"/>
            <a:ext cx="3520440" cy="82296"/>
          </a:xfrm>
          <a:prstGeom prst="rect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pandemia provocó millones de contagios y muertes, saturó hospitales y puso bajo una enorme presión a los profesionales sanitarios. Además, numerosos tratamientos, operaciones y programas de vacunación contra otras enfermedades se retrasaron o interrumpieron. También aumentaron los problemas de salud mental debido al aislamiento, la incertidumbre y las pérdidas personales.</a:t>
            </a:r>
            <a:endParaRPr lang="en-US" sz="1250" dirty="0"/>
          </a:p>
        </p:txBody>
      </p:sp>
      <p:sp>
        <p:nvSpPr>
          <p:cNvPr id="15" name="Tarjeta Guerra de Ucrania"/>
          <p:cNvSpPr/>
          <p:nvPr/>
        </p:nvSpPr>
        <p:spPr>
          <a:xfrm>
            <a:off x="827532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3108960"/>
            <a:ext cx="3520440" cy="82296"/>
          </a:xfrm>
          <a:prstGeom prst="rect">
            <a:avLst/>
          </a:prstGeom>
          <a:solidFill>
            <a:srgbClr val="C8402B"/>
          </a:solidFill>
          <a:ln w="12700">
            <a:solidFill>
              <a:srgbClr val="C840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de Ucrania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ataques, los bombardeos y los desplazamientos de población dañaron hospitales y otras infraestructuras sanitarias en Ucrania, dificultando el acceso a tratamientos y medicamentos. Además, millones de personas tuvieron que abandonar sus hogares, lo que incrementó sus necesidades de atención médica y psicológica. La guerra también desvió recursos públicos hacia la defensa y la atención de emergencias, limitando las posibilidades de inversión en otros servicios sanitarios.</a:t>
            </a:r>
            <a:endParaRPr lang="en-US" sz="1250" dirty="0"/>
          </a:p>
        </p:txBody>
      </p:sp>
      <p:sp>
        <p:nvSpPr>
          <p:cNvPr id="19" name="Text 0"/>
          <p:cNvSpPr>
            <a:spLocks noGrp="1"/>
          </p:cNvSpPr>
          <p:nvPr>
            <p:ph idx="100" hasCustomPrompt="1"/>
          </p:nvPr>
        </p:nvSpPr>
        <p:spPr>
          <a:xfrm>
            <a:off x="4572000" y="411480"/>
            <a:ext cx="7223760" cy="2468880"/>
          </a:xfrm>
          <a:prstGeom prst="rect">
            <a:avLst/>
          </a:prstGeom>
          <a:noFill/>
          <a:ln w="19050">
            <a:solidFill>
              <a:srgbClr val="8A93A6"/>
            </a:solidFill>
            <a:prstDash val="dash"/>
          </a:ln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1" name="Marcador de posición de imagen 20">
            <a:extLst>
              <a:ext uri="{FF2B5EF4-FFF2-40B4-BE49-F238E27FC236}">
                <a16:creationId xmlns:a16="http://schemas.microsoft.com/office/drawing/2014/main" id="{A2E24B6D-64DD-0DDD-4692-20196C0BD00A}"/>
              </a:ext>
            </a:extLst>
          </p:cNvPr>
          <p:cNvPicPr>
            <a:picLocks noGrp="1" noChangeAspect="1"/>
          </p:cNvPicPr>
          <p:nvPr>
            <p:ph type="pic" idx="100"/>
          </p:nvPr>
        </p:nvPicPr>
        <p:blipFill>
          <a:blip r:embed="rId5"/>
          <a:srcRect t="5562" b="2534"/>
          <a:stretch>
            <a:fillRect/>
          </a:stretch>
        </p:blipFill>
        <p:spPr>
          <a:xfrm>
            <a:off x="4572000" y="184785"/>
            <a:ext cx="7223760" cy="283273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ODS 7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CC30B"/>
          </a:solidFill>
          <a:ln w="12700">
            <a:solidFill>
              <a:srgbClr val="FCC30B"/>
            </a:solidFill>
            <a:prstDash val="solid"/>
          </a:ln>
        </p:spPr>
      </p:sp>
      <p:sp>
        <p:nvSpPr>
          <p:cNvPr id="3" name="Fondo imagen ODS 7"/>
          <p:cNvSpPr/>
          <p:nvPr/>
        </p:nvSpPr>
        <p:spPr>
          <a:xfrm>
            <a:off x="4572000" y="411480"/>
            <a:ext cx="7223760" cy="2468880"/>
          </a:xfrm>
          <a:prstGeom prst="rect">
            <a:avLst/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21488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imagen del ODS 7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icono del centro para insertarla</a:t>
            </a:r>
            <a:endParaRPr lang="en-US" sz="2000" dirty="0"/>
          </a:p>
        </p:txBody>
      </p:sp>
      <p:pic>
        <p:nvPicPr>
          <p:cNvPr id="5" name="Image 0" descr="Icono ODS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7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3A2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2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Energía asequible y no contaminante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garantizar el acceso a una energía segura, sostenible, moderna y asequible, impulsando las energías renovables y reduciendo la dependencia de los combustibles fósiles.</a:t>
            </a:r>
            <a:endParaRPr lang="en-US" sz="1400" dirty="0"/>
          </a:p>
        </p:txBody>
      </p:sp>
      <p:sp>
        <p:nvSpPr>
          <p:cNvPr id="10" name="Text 7">
            <a:hlinkClick r:id="rId4" tooltip="ODS 7"/>
          </p:cNvPr>
          <p:cNvSpPr txBox="1"/>
          <p:nvPr/>
        </p:nvSpPr>
        <p:spPr>
          <a:xfrm>
            <a:off x="457200" y="6217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3A2F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DS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Más información en la ONU</a:t>
            </a:r>
            <a:endParaRPr lang="en-US" sz="1200" dirty="0"/>
          </a:p>
        </p:txBody>
      </p:sp>
      <p:sp>
        <p:nvSpPr>
          <p:cNvPr id="11" name="Tarjeta COVID-19"/>
          <p:cNvSpPr/>
          <p:nvPr/>
        </p:nvSpPr>
        <p:spPr>
          <a:xfrm>
            <a:off x="457200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108960"/>
            <a:ext cx="3520440" cy="82296"/>
          </a:xfrm>
          <a:prstGeom prst="rect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los confinamientos disminuyó la actividad industrial y el transporte, lo que redujo temporalmente la demanda energética y las emisiones contaminantes. Sin embargo, la crisis económica dificultó las inversiones en algunos proyectos de energías renovables y aumentó las dificultades de los hogares con menos recursos para pagar la electricidad y la calefacción.</a:t>
            </a:r>
            <a:endParaRPr lang="en-US" sz="1250" dirty="0"/>
          </a:p>
        </p:txBody>
      </p:sp>
      <p:sp>
        <p:nvSpPr>
          <p:cNvPr id="15" name="Tarjeta Guerra de Ucrania"/>
          <p:cNvSpPr/>
          <p:nvPr/>
        </p:nvSpPr>
        <p:spPr>
          <a:xfrm>
            <a:off x="827532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3108960"/>
            <a:ext cx="3520440" cy="82296"/>
          </a:xfrm>
          <a:prstGeom prst="rect">
            <a:avLst/>
          </a:prstGeom>
          <a:solidFill>
            <a:srgbClr val="C8402B"/>
          </a:solidFill>
          <a:ln w="12700">
            <a:solidFill>
              <a:srgbClr val="C840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de Ucrania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sanciones económicas, las restricciones comerciales y las alteraciones del suministro energético ruso provocaron importantes subidas y fluctuaciones de los precios del gas, el petróleo y la electricidad. En Europa, esto aumentó las facturas de hogares y empresas y agravó la pobreza energética. Al mismo tiempo, la crisis impulsó a varios países a buscar proveedores alternativos y acelerar sus inversiones en energías renovables, aunque también aumentó temporalmente el uso de algunos combustibles fósiles.</a:t>
            </a:r>
            <a:endParaRPr lang="en-US" sz="1250" dirty="0"/>
          </a:p>
        </p:txBody>
      </p:sp>
      <p:sp>
        <p:nvSpPr>
          <p:cNvPr id="19" name="Text 0"/>
          <p:cNvSpPr>
            <a:spLocks noGrp="1"/>
          </p:cNvSpPr>
          <p:nvPr>
            <p:ph idx="100" hasCustomPrompt="1"/>
          </p:nvPr>
        </p:nvSpPr>
        <p:spPr>
          <a:xfrm>
            <a:off x="4572000" y="411480"/>
            <a:ext cx="7223760" cy="2468880"/>
          </a:xfrm>
          <a:prstGeom prst="rect">
            <a:avLst/>
          </a:prstGeom>
          <a:noFill/>
          <a:ln w="19050">
            <a:solidFill>
              <a:srgbClr val="8A93A6"/>
            </a:solidFill>
            <a:prstDash val="dash"/>
          </a:ln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1" name="Marcador de posición de imagen 20">
            <a:extLst>
              <a:ext uri="{FF2B5EF4-FFF2-40B4-BE49-F238E27FC236}">
                <a16:creationId xmlns:a16="http://schemas.microsoft.com/office/drawing/2014/main" id="{14ED86C5-5DE2-A18E-690B-CE1CA553A25D}"/>
              </a:ext>
            </a:extLst>
          </p:cNvPr>
          <p:cNvPicPr>
            <a:picLocks noGrp="1" noChangeAspect="1"/>
          </p:cNvPicPr>
          <p:nvPr>
            <p:ph type="pic" idx="100"/>
          </p:nvPr>
        </p:nvPicPr>
        <p:blipFill>
          <a:blip r:embed="rId5"/>
          <a:srcRect t="8380" b="8380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ODS 8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3" name="Fondo imagen ODS 8"/>
          <p:cNvSpPr/>
          <p:nvPr/>
        </p:nvSpPr>
        <p:spPr>
          <a:xfrm>
            <a:off x="4572000" y="411480"/>
            <a:ext cx="7223760" cy="2468880"/>
          </a:xfrm>
          <a:prstGeom prst="rect">
            <a:avLst/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21488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imagen del ODS 8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icono del centro para insertarla</a:t>
            </a:r>
            <a:endParaRPr lang="en-US" sz="2000" dirty="0"/>
          </a:p>
        </p:txBody>
      </p:sp>
      <p:pic>
        <p:nvPicPr>
          <p:cNvPr id="5" name="Image 0" descr="Icono ODS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8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 decente y crecimiento económico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Pretende promover el crecimiento económico sostenible, generar empleo digno, mejorar las condiciones laborales y garantizar oportunidades de trabajo para toda la población.</a:t>
            </a:r>
            <a:endParaRPr lang="en-US" sz="1400" dirty="0"/>
          </a:p>
        </p:txBody>
      </p:sp>
      <p:sp>
        <p:nvSpPr>
          <p:cNvPr id="10" name="Text 7">
            <a:hlinkClick r:id="rId4" tooltip="ODS 8"/>
          </p:cNvPr>
          <p:cNvSpPr txBox="1"/>
          <p:nvPr/>
        </p:nvSpPr>
        <p:spPr>
          <a:xfrm>
            <a:off x="457200" y="6217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DS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Más información en la ONU</a:t>
            </a:r>
            <a:endParaRPr lang="en-US" sz="1200" dirty="0"/>
          </a:p>
        </p:txBody>
      </p:sp>
      <p:sp>
        <p:nvSpPr>
          <p:cNvPr id="11" name="Tarjeta COVID-19"/>
          <p:cNvSpPr/>
          <p:nvPr/>
        </p:nvSpPr>
        <p:spPr>
          <a:xfrm>
            <a:off x="457200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108960"/>
            <a:ext cx="3520440" cy="82296"/>
          </a:xfrm>
          <a:prstGeom prst="rect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3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temporal de negocios, la caída del turismo y la reducción del consumo provocaron una fuerte crisis económica. Muchos trabajadores perdieron sus empleos o sufrieron reducciones salariales, especialmente en sectores como la hostelería, el comercio y el transporte. Asimismo, numerosos autónomos y pequeñas empresas tuvieron dificultades para mantener su actividad.</a:t>
            </a:r>
            <a:endParaRPr lang="en-US" sz="1250" dirty="0"/>
          </a:p>
        </p:txBody>
      </p:sp>
      <p:sp>
        <p:nvSpPr>
          <p:cNvPr id="15" name="Tarjeta Guerra de Ucrania"/>
          <p:cNvSpPr/>
          <p:nvPr/>
        </p:nvSpPr>
        <p:spPr>
          <a:xfrm>
            <a:off x="8275320" y="3108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3108960"/>
            <a:ext cx="3520440" cy="82296"/>
          </a:xfrm>
          <a:prstGeom prst="rect">
            <a:avLst/>
          </a:prstGeom>
          <a:solidFill>
            <a:srgbClr val="C8402B"/>
          </a:solidFill>
          <a:ln w="12700">
            <a:solidFill>
              <a:srgbClr val="C840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4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de Ucrania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58200" y="374904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guerra provocó incertidumbre económica, aumentó los costes de producción de las empresas y dificultó el comercio internacional. El encarecimiento de la energía, las materias primas y el transporte redujo los márgenes de muchos negocios y contribuyó a la inflación. Además, la destrucción de infraestructuras y el desplazamiento de trabajadores perjudicaron gravemente a la economía ucraniana. En otros países, las empresas y los consumidores también sufrieron las consecuencias del aumento de los precios.</a:t>
            </a:r>
            <a:endParaRPr lang="en-US" sz="1250" dirty="0"/>
          </a:p>
        </p:txBody>
      </p:sp>
      <p:sp>
        <p:nvSpPr>
          <p:cNvPr id="19" name="Text 0"/>
          <p:cNvSpPr>
            <a:spLocks noGrp="1"/>
          </p:cNvSpPr>
          <p:nvPr>
            <p:ph idx="100" hasCustomPrompt="1"/>
          </p:nvPr>
        </p:nvSpPr>
        <p:spPr>
          <a:xfrm>
            <a:off x="4572000" y="411480"/>
            <a:ext cx="7223760" cy="2468880"/>
          </a:xfrm>
          <a:prstGeom prst="rect">
            <a:avLst/>
          </a:prstGeom>
          <a:noFill/>
          <a:ln w="19050">
            <a:solidFill>
              <a:srgbClr val="8A93A6"/>
            </a:solidFill>
            <a:prstDash val="dash"/>
          </a:ln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900" name="Marcador de imagen"/>
          <p:cNvSpPr>
            <a:spLocks noGrp="1"/>
          </p:cNvSpPr>
          <p:nvPr>
            <p:ph type="pic" idx="100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saber más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109728" cy="914400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72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17 Objetivos de Desarrollo Sostenible (ONU)</a:t>
            </a:r>
            <a:endParaRPr lang="en-US" sz="18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914400" y="1965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A7B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https://sdgs.un.org/es/goals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109728" cy="914400"/>
          </a:xfrm>
          <a:prstGeom prst="rect">
            <a:avLst/>
          </a:prstGeom>
          <a:solidFill>
            <a:srgbClr val="DDA63A"/>
          </a:solidFill>
          <a:ln w="12700">
            <a:solidFill>
              <a:srgbClr val="DDA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Sostenible · Naciones Unidas</a:t>
            </a:r>
            <a:endParaRPr lang="en-US" sz="1800" dirty="0"/>
          </a:p>
        </p:txBody>
      </p:sp>
      <p:sp>
        <p:nvSpPr>
          <p:cNvPr id="10" name="Text 8">
            <a:hlinkClick r:id="rId4"/>
          </p:cNvPr>
          <p:cNvSpPr txBox="1"/>
          <p:nvPr/>
        </p:nvSpPr>
        <p:spPr>
          <a:xfrm>
            <a:off x="914400" y="3108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A7B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https://www.un.org/sustainabledevelopment/es/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49040"/>
            <a:ext cx="109728" cy="914400"/>
          </a:xfrm>
          <a:prstGeom prst="rect">
            <a:avLst/>
          </a:prstGeom>
          <a:solidFill>
            <a:srgbClr val="4C9F38"/>
          </a:solidFill>
          <a:ln w="12700">
            <a:solidFill>
              <a:srgbClr val="4C9F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58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de los ODS 2022 (ONU)</a:t>
            </a:r>
            <a:endParaRPr lang="en-US" sz="1800" dirty="0"/>
          </a:p>
        </p:txBody>
      </p:sp>
      <p:sp>
        <p:nvSpPr>
          <p:cNvPr id="14" name="Text 12">
            <a:hlinkClick r:id="rId5"/>
          </p:cNvPr>
          <p:cNvSpPr txBox="1"/>
          <p:nvPr/>
        </p:nvSpPr>
        <p:spPr>
          <a:xfrm>
            <a:off x="914400" y="4251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A7B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https://unstats.un.org/sdgs/report/2022/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Tarea 1">
  <a:themeElements>
    <a:clrScheme name="ODS Tarea 1">
      <a:dk1>
        <a:srgbClr val="1D2433"/>
      </a:dk1>
      <a:lt1>
        <a:srgbClr val="FFFFFF"/>
      </a:lt1>
      <a:dk2>
        <a:srgbClr val="0F3B5C"/>
      </a:dk2>
      <a:lt2>
        <a:srgbClr val="F4F1EA"/>
      </a:lt2>
      <a:accent1>
        <a:srgbClr val="E5243B"/>
      </a:accent1>
      <a:accent2>
        <a:srgbClr val="DDA63A"/>
      </a:accent2>
      <a:accent3>
        <a:srgbClr val="4C9F38"/>
      </a:accent3>
      <a:accent4>
        <a:srgbClr val="FCC30B"/>
      </a:accent4>
      <a:accent5>
        <a:srgbClr val="A21942"/>
      </a:accent5>
      <a:accent6>
        <a:srgbClr val="0A7BBF"/>
      </a:accent6>
      <a:hlink>
        <a:srgbClr val="0A7BBF"/>
      </a:hlink>
      <a:folHlink>
        <a:srgbClr val="5B3FD0"/>
      </a:folHlink>
    </a:clrScheme>
    <a:fontScheme name="ODS Tarea 1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1195</Words>
  <Application>Microsoft Office PowerPoint</Application>
  <PresentationFormat>Panorámica</PresentationFormat>
  <Paragraphs>110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ODS Tarea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Tarea 1 - ODS, COVID-19 y guerra de Ucrania</dc:title>
  <dc:subject>PptxGenJS Presentation</dc:subject>
  <dc:creator>José A. Santos García</dc:creator>
  <cp:lastModifiedBy>Jose Santos</cp:lastModifiedBy>
  <cp:revision>3</cp:revision>
  <dcterms:created xsi:type="dcterms:W3CDTF">2026-10-12T12:16:57Z</dcterms:created>
  <dcterms:modified xsi:type="dcterms:W3CDTF">2026-10-12T12:25:53Z</dcterms:modified>
</cp:coreProperties>
</file>